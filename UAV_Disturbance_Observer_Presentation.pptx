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737360"/>
            <a:ext cx="100584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475569"/>
                </a:solidFill>
                <a:latin typeface="Arial"/>
              </a:defRPr>
            </a:pPr>
            <a:r>
              <a:t>RESEARCH &amp; TECHNICAL EVALUATION PRESENTATION</a:t>
            </a:r>
          </a:p>
          <a:p>
            <a:pPr>
              <a:spcAft>
                <a:spcPts val="1000"/>
              </a:spcAft>
              <a:defRPr sz="2300" b="1">
                <a:solidFill>
                  <a:srgbClr val="1E293B"/>
                </a:solidFill>
                <a:latin typeface="Arial"/>
              </a:defRPr>
            </a:pPr>
            <a:r>
              <a:t>Nonlinear Disturbance Observer (DOB) for Autonomous Quadrotors Under Severe Aerodynamic Wind Shocks</a:t>
            </a:r>
          </a:p>
          <a:p>
            <a:pPr>
              <a:spcAft>
                <a:spcPts val="2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High-Fidelity ROS 2 Humble &amp; Gazebo 11 Physics Simulation, Differential Flatness Allocation, and Empirical Benchmark</a:t>
            </a:r>
          </a:p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Author: Nallabati Venkata Durga Sai Sarat Chandra  |  Department of Robotics &amp; Autonomous Systems</a:t>
            </a:r>
            <a:br/>
            <a:r>
              <a:t>Target Repository: github.com/Sarat-2007/ros2-quadrotor-dob-wind-rejection (Branch: main)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CONTROL LIMITATION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Arial"/>
              </a:defRPr>
            </a:pPr>
            <a:r>
              <a:t>Problem Statement: Aerodynamic Wind Shocks vs. Classical PID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Autonomous Aerial Robotics Research Laboratory  |  ROS 2 Humble &amp; Gazebo 11  |  github.com/Sarat-2007/ros2-quadrotor-dob-wind-rejection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4754880" cy="4352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Arial"/>
              </a:defRPr>
            </a:pPr>
            <a:r>
              <a:t>Classical PID Failure Modes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The Inspection Challenge: </a:t>
            </a:r>
            <a:r>
              <a:t>UAVs conducting facility perimeter patrol maneuver within 1-2 meters of buildings, inspection gates, and transmission towers.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Rayleigh Fluid Drag: </a:t>
            </a:r>
            <a:r>
              <a:t>An 8.5 m/s shock crosswind exerts ~11.2 N on a 1.52 kg quadrotor—representing 75.1% of entire vehicle weight.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PID Error-Driven Lag: </a:t>
            </a:r>
            <a:r>
              <a:t>PID controllers only react after error has accumulated. Under shock winds, position drift exceeds 1.5 meters.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The Integral Windup Dilemma: </a:t>
            </a:r>
            <a:r>
              <a:t>Integral terms slowly wind up over seconds. Once wind ceases, accumulated energy causes massive overshoot into obstacles.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Actuator Saturation Risk: </a:t>
            </a:r>
            <a:r>
              <a:t>Increasing high PID gains amplifies sensor noise, causing motor chattering and rapid instability.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754880" cy="4352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Arial"/>
              </a:defRPr>
            </a:pPr>
            <a:r>
              <a:t>Target Specifications &amp; Comparative Metrics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Peak Crosswind Velocity: </a:t>
            </a:r>
            <a:r>
              <a:t>8.5 m/s Shock Step Injections in Gazebo 11 physics.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Baseline PID Drift: </a:t>
            </a:r>
            <a:r>
              <a:t>157.1 cm lateral displacement (Near-miss crash hazard).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DOB Rejection Drift: </a:t>
            </a:r>
            <a:r>
              <a:t>41.9 cm maximum displacement (73.3% drift reduction).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Observer Reaction Time: </a:t>
            </a:r>
            <a:r>
              <a:t>28.5 milliseconds (vs. 2.4 - 4.0 seconds for PID integrator).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Altitude Loss Under Tilt: </a:t>
            </a:r>
            <a:r>
              <a:t>0 cm drop (Nonlinear tilt thrust compensation maintains Z).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Collision Record: </a:t>
            </a:r>
            <a:r>
              <a:t>Zero obstacle collisions across all 11 facility waypoints.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ROBUST CONTROL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Arial"/>
              </a:defRPr>
            </a:pPr>
            <a:r>
              <a:t>Control Architecture: Two-Time-Scale Disturbance Observer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Autonomous Aerial Robotics Research Laboratory  |  ROS 2 Humble &amp; Gazebo 11  |  github.com/Sarat-2007/ros2-quadrotor-dob-wind-rejection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8463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4389120" cy="4352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Arial"/>
              </a:defRPr>
            </a:pPr>
            <a:r>
              <a:t>Mathematical Formulations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Observer State Filter: </a:t>
            </a:r>
            <a:r>
              <a:t>dF_hat/dt = ω_obs · (F_meas - F_hat), with bandwidth ω_obs = 35.0 rad/s.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Feedforward Decoupling: </a:t>
            </a:r>
            <a:r>
              <a:t>a_des = a_ref + K_p e_p + K_i ∫e_p + K_d e_v - (1/m) F_hat. Direct acceleration cancellation.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Nonlinear Tilt Thrust: </a:t>
            </a:r>
            <a:r>
              <a:t>T = (m · a_z,des) / (cos φ · cos θ). Prevents altitude drop when tilting up to 37° into wind.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Differential Flatness: </a:t>
            </a:r>
            <a:r>
              <a:t>Maps desired accelerations into SO(3) attitude angles (φ_des, θ_des) for the inner-loop rate controller.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Lyapunov Proof: </a:t>
            </a:r>
            <a:r>
              <a:t>Proves exponential convergence of disturbance estimation error: ||e_obs(t)|| → 0 as t → ∞.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5584" y="2143696"/>
            <a:ext cx="5650992" cy="3210687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trol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80272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FACILITY ENVIRONMENT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Arial"/>
              </a:defRPr>
            </a:pPr>
            <a:r>
              <a:t>3D Gazebo Simulation Arena &amp; 11-Waypoint Flight Corridor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Autonomous Aerial Robotics Research Laboratory  |  ROS 2 Humble &amp; Gazebo 11  |  github.com/Sarat-2007/ros2-quadrotor-dob-wind-rejection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8463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4389120" cy="4352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Arial"/>
              </a:defRPr>
            </a:pPr>
            <a:r>
              <a:t>Safety Envelope &amp; Waypoints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6 Realistic Obstacles: </a:t>
            </a:r>
            <a:r>
              <a:t>Central Helipad (Origin), 4m Inspection Gate, 2m Elevated Rooftop Station, Towers A &amp; B, Slalom Pylons.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11-Waypoint Corridor: </a:t>
            </a:r>
            <a:r>
              <a:t>Designed with verified clearances (≥ 0.82 m - 2.10 m from prop tip to any physical surface).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Inspection Gate Transit: </a:t>
            </a:r>
            <a:r>
              <a:t>Flies through center (W=3.2m, H=4m) to Y=6.5m before turning, eliminating pillar clipping.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Rooftop Station Survey: </a:t>
            </a:r>
            <a:r>
              <a:t>Surveys elevated target at Z=3.5m (1.5m above roof surface) under active crosswinds.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Multi-Zone Gust Points: </a:t>
            </a:r>
            <a:r>
              <a:t>Shock gusts injected at Gate Approach (7.5 m/s), Rooftop (8.5 m/s), and Helipad Recovery (8.0 m/s).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5584" y="1620774"/>
            <a:ext cx="5650992" cy="42565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azebo_3d_simulation_ar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57350"/>
            <a:ext cx="5577840" cy="4183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QUANTITATIVE PERFORMANCE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Arial"/>
              </a:defRPr>
            </a:pPr>
            <a:r>
              <a:t>Empirical Results: Multi-Position Wind Gust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Autonomous Aerial Robotics Research Laboratory  |  ROS 2 Humble &amp; Gazebo 11  |  github.com/Sarat-2007/ros2-quadrotor-dob-wind-rejection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8463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4389120" cy="4352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Arial"/>
              </a:defRPr>
            </a:pPr>
            <a:r>
              <a:t>Drift Reduction Highlights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Gust 1 (Gate, 7.5 m/s): </a:t>
            </a:r>
            <a:r>
              <a:t>PID Drift = 86.2 cm  vs.  DOB Drift = 12.2 cm  (85.8% Reduction). Prevents gate pillar collision.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Gust 2 (Rooftop, 8.5 m/s): </a:t>
            </a:r>
            <a:r>
              <a:t>PID Drift = 157.1 cm  vs.  DOB Drift = 41.9 cm  (73.3% Reduction). Prevents vehicle roof blowout.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Gust 3 (Helipad, 8.0 m/s): </a:t>
            </a:r>
            <a:r>
              <a:t>PID Drift = 84.7 cm  vs.  DOB Drift = 29.9 cm  (64.7% Reduction). Guarantees 1.2m pad touchdown.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Overall Cross-Track Error: </a:t>
            </a:r>
            <a:r>
              <a:t>Reduced from 32.9 cm to 20.2 cm across the entire 11-waypoint patrol (38.7% overall improvement).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Actuator Demands: </a:t>
            </a:r>
            <a:r>
              <a:t>Smooth motor thrust scaling (14.9 N → 18.2 N) without motor saturation or chattering.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5584" y="1404517"/>
            <a:ext cx="5650992" cy="468904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ulti_gust_dob_vs_p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41093"/>
            <a:ext cx="5577840" cy="46158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OBSERVER CONVERGENCE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Arial"/>
              </a:defRPr>
            </a:pPr>
            <a:r>
              <a:t>Disturbance Reconstruction &amp; Actuator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Autonomous Aerial Robotics Research Laboratory  |  ROS 2 Humble &amp; Gazebo 11  |  github.com/Sarat-2007/ros2-quadrotor-dob-wind-rejection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8463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4389120" cy="4352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Arial"/>
              </a:defRPr>
            </a:pPr>
            <a:r>
              <a:t>Transient Dynamics &amp; Bandwidth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Observer Bandwidth (35 rad/s): </a:t>
            </a:r>
            <a:r>
              <a:t>Time constant τ = 28.5 ms enables near-instantaneous reconstruction of external aerodynamic drag.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Force Estimation Accuracy: </a:t>
            </a:r>
            <a:r>
              <a:t>Reconstructs 10.33 N shock force to 10.34 N (&gt;98% fidelity) in time domain.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Separation Principle: </a:t>
            </a:r>
            <a:r>
              <a:t>Bandwidth sits safely between position loop (5 rad/s) and attitude loop (100 rad/s), preventing noise amplification.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Tilt Thrust Balancing: </a:t>
            </a:r>
            <a:r>
              <a:t>Collective thrust automatically increases during tilt, ensuring zero altitude drop during 35° leans.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Motor PWM Utilization: </a:t>
            </a:r>
            <a:r>
              <a:t>All 4 rotor speeds operate within 1200 - 1800 rad/s, maintaining safe margins from physical saturation.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5584" y="1969389"/>
            <a:ext cx="5650992" cy="355930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xperiment_benchmark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05965"/>
            <a:ext cx="5577840" cy="34861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INDUSTRIAL PILOT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Arial"/>
              </a:defRPr>
            </a:pPr>
            <a:r>
              <a:t>Ground Control Station (GCS) &amp; Human-in-the-Loop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Autonomous Aerial Robotics Research Laboratory  |  ROS 2 Humble &amp; Gazebo 11  |  github.com/Sarat-2007/ros2-quadrotor-dob-wind-rejection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9494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6492240" cy="4352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Arial"/>
              </a:defRPr>
            </a:pPr>
            <a:r>
              <a:t>Operational Capabilities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Industrial Dark Slate HUD: </a:t>
            </a:r>
            <a:r>
              <a:t>High-contrast telemetry interface showing live 3D coordinates, speed, heading, and disturbance wrench.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Aerodynamic Drag Calculator: </a:t>
            </a:r>
            <a:r>
              <a:t>Operator sets gust slider (1-12 m/s); UI computes expected drag (Fd), counter-tilt angle, and required thrust.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1-Click Patrol Execution: </a:t>
            </a:r>
            <a:r>
              <a:t>Deploys autonomous inspection sequence across all 11 waypoints with live progress tracking.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Emergency Station Hover: </a:t>
            </a:r>
            <a:r>
              <a:t>Instant mission abort halting trajectory tracking and locking drone into zero-drift station hover.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Pilot Manual Overrides: </a:t>
            </a:r>
            <a:r>
              <a:t>Touching any keyboard key or D-Pad stick automatically yields mission control to the human pilot.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1104" y="1335024"/>
            <a:ext cx="3243072" cy="4828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cs_teleo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679" y="1371600"/>
            <a:ext cx="31699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ACADEMIC EVALUATION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Arial"/>
              </a:defRPr>
            </a:pPr>
            <a:r>
              <a:t>Project Summary &amp; Key Defense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Autonomous Aerial Robotics Research Laboratory  |  ROS 2 Humble &amp; Gazebo 11  |  github.com/Sarat-2007/ros2-quadrotor-dob-wind-rejection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4754880" cy="4352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Arial"/>
              </a:defRPr>
            </a:pPr>
            <a:r>
              <a:t>Core Technical Novelty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Not Just a Waypoint Follower: </a:t>
            </a:r>
            <a:r>
              <a:t>Standard drone projects follow waypoints in calm air. This project introduces Active Disturbance Rejection Control (ADRC) for violent unmodeled wind conditions.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Rigorous Mathematical Basis: </a:t>
            </a:r>
            <a:r>
              <a:t>Formulated 6-DOF rigid-body dynamics, Rayleigh fluid drag, and proved Lyapunov asymptotic stability.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Exceptional Benchmark Gain: </a:t>
            </a:r>
            <a:r>
              <a:t>Demonstrated 85.8% drift reduction at Gate and 73.3% at Rooftop Station with zero collisions.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754880" cy="4352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Arial"/>
              </a:defRPr>
            </a:pPr>
            <a:r>
              <a:t>Engineering Deliverables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Modular ROS 2 Architecture: </a:t>
            </a:r>
            <a:r>
              <a:t>Clean separation across uav_control (100 Hz), uav_aerodynamics, uav_dashboard, and uav_description.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Reproducible Open Source Suite: </a:t>
            </a:r>
            <a:r>
              <a:t>Automated 1-click test scripts and benchmarks enable instant verification for examiners.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Ready for Hardware Transition: </a:t>
            </a:r>
            <a:r>
              <a:t>Differential flatness and acceleration decoupling structure maps directly to PX4 / Pixhawk flight hardware.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