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050" b="1">
                <a:solidFill>
                  <a:srgbClr val="38BDF8"/>
                </a:solidFill>
                <a:latin typeface="Arial"/>
              </a:defRPr>
            </a:pPr>
            <a:r>
              <a:t>RESEARCH &amp; TECHNICAL PRESENTATION  |  AUTONOMOUS AERIAL ROBOTICS</a:t>
            </a:r>
          </a:p>
          <a:p>
            <a:pPr>
              <a:spcAft>
                <a:spcPts val="12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Nonlinear Disturbance Observer (DOB) for Autonomous Quadrotors Under Violent Wind Gusts</a:t>
            </a:r>
          </a:p>
          <a:p>
            <a:pPr>
              <a:spcAft>
                <a:spcPts val="2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Active Disturbance Rejection Control (ADRC), 6-DOF Rayleigh Aerodynamics, and Gazebo 11 Physics Benchmark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Author: Nallabati Venkata Durga Sai Sarat Chandra  |  ROS 2 Humble &amp; Gazebo 11  |  Branch: 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9768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429768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57200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85.8% DRIFT REDUCTION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Shock gust drift cut from 86.2 cm to 12.2 cm at Inspection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429768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3984" y="4297680"/>
            <a:ext cx="32918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4" y="457200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35.0 rad/s OBSERVER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Reconstructs unmodeled 11.2 N fluid drag forces in 28.5 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429768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73568" y="4297680"/>
            <a:ext cx="3291840" cy="731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457200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ZERO COLLISIONS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11-waypoint corridor fully collision-free past towers and roofs.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CONTROL LIMITATION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Problem Statement: Aerodynamic Wind Shocks vs. Classical PID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347472"/>
            <a:ext cx="777240" cy="38404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02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UAV Disturbance Observer Flight Control  |  ROS 2 Humble &amp; Gazebo 11  |  github.com/Sarat-2007/ros2-quadrotor-dob-wind-rejection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39"/>
            <a:ext cx="54864" cy="46634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Conventional Autopilot Failure Modes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Violent Aerodynamic Drag: </a:t>
            </a:r>
            <a:r>
              <a:t>An 8.5 m/s crosswind exerts 11.2 N on a 1.52 kg drone—75% of total vehicle weight!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Severe Reaction Delay: </a:t>
            </a:r>
            <a:r>
              <a:t>PID cannot act until large position and velocity tracking errors have already accumulated.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Dangerous Integral Windup: </a:t>
            </a:r>
            <a:r>
              <a:t>Integrator slowly winds up over seconds. When the wind stops, accumulated energy flings drone into obstacles.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Actuator Saturation &amp; Noise: </a:t>
            </a:r>
            <a:r>
              <a:t>Pumping derivative gains amplifies IMU sensor noise, causing motor chattering and instability.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39"/>
            <a:ext cx="54864" cy="4663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Our Active Disturbance Rejection Goals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Immediate Disturbance Rejection: </a:t>
            </a:r>
            <a:r>
              <a:t>Reconstruct unmodeled fluid drag in 28.5 ms (ω_obs = 35 rad/s) before drift starts.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Feedforward Decoupling: </a:t>
            </a:r>
            <a:r>
              <a:t>Directly subtract estimated aerodynamic force in acceleration space: a_des = a_PID - (1/m) F_hat.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Nonlinear Tilt Thrust: </a:t>
            </a:r>
            <a:r>
              <a:t>Scale thrust by 1 / (cos φ · cos θ) so the drone never loses altitude when leaning up to 37°.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Strict Collision-Free Guarantee: </a:t>
            </a:r>
            <a:r>
              <a:t>Maintain ≥ 0.82 m clearance past all gates, rooftops, and towers under shock winds.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ROBUST CONTROL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Control Architecture: Two-Time-Scale Disturbance Observer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347472"/>
            <a:ext cx="777240" cy="38404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03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UAV Disturbance Observer Flight Control  |  ROS 2 Humble &amp; Gazebo 11  |  github.com/Sarat-2007/ros2-quadrotor-dob-wind-rejection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4846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39"/>
            <a:ext cx="54864" cy="4663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43891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Mathematical Formulation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Observer State Filter: </a:t>
            </a:r>
            <a:r>
              <a:t>dF_hat/dt = ω_obs · (F_meas - F_hat) with bandwidth ω_obs = 35.0 rad/s (τ = 28.5 ms).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Feedforward Acceleration: </a:t>
            </a:r>
            <a:r>
              <a:t>a_des = a_ref + K_p e_p + K_i ∫e_p + K_d e_v - (1/m) F_hat. Instantly cancels drag force.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Nonlinear Tilt Compensation: </a:t>
            </a:r>
            <a:r>
              <a:t>T = (m · a_z,des) / (cos φ · cos θ). Boosts thrust from 14.9 N to 18.2 N to counter gravity during tilt.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Lyapunov Asymptotic Stability: </a:t>
            </a:r>
            <a:r>
              <a:t>Proven exponential convergence: error ||e_obs(t)|| → 0 as t → ∞ under bounded gust rates.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5584" y="2189416"/>
            <a:ext cx="5650992" cy="321068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ntrol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25992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FACILITY ENVIRONMENT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3D Simulation Arena &amp; 11-Waypoint Autonomous Patrol Corridor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347472"/>
            <a:ext cx="777240" cy="38404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04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UAV Disturbance Observer Flight Control  |  ROS 2 Humble &amp; Gazebo 11  |  github.com/Sarat-2007/ros2-quadrotor-dob-wind-rejection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47548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39"/>
            <a:ext cx="54864" cy="4663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42976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Corridor Clearances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6 Authentic Obstacles: </a:t>
            </a:r>
            <a:r>
              <a:t>Central Helipad (Origin), 4m Inspection Gate, 2m Elevated Rooftop Station, Towers A &amp; B, Slalom Pylons.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Verified Safety Corridors: </a:t>
            </a:r>
            <a:r>
              <a:t>Every waypoint engineered with clearances ≥ 0.82 m - 2.10 m from prop tip to any obstacle surface.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Inspection Gate Fly-Through: </a:t>
            </a:r>
            <a:r>
              <a:t>Passes directly through gate arch (W=3.2m, H=4m) to Y=6.5m before turning, eliminating pillar collisions.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Rooftop Station Survey: </a:t>
            </a:r>
            <a:r>
              <a:t>Surveys elevated station at Z=3.5m (1.5m above roof) while actively rejecting 8.5 m/s crosswind shock.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24144" y="1632204"/>
            <a:ext cx="5742432" cy="4325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azebo_3d_simulation_ar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68780"/>
            <a:ext cx="566928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QUANTITATIVE PERFORMANCE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Empirical Verification: Multi-Position Wind Gust Benchmark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347472"/>
            <a:ext cx="777240" cy="38404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05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UAV Disturbance Observer Flight Control  |  ROS 2 Humble &amp; Gazebo 11  |  github.com/Sarat-2007/ros2-quadrotor-dob-wind-rejection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4846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39"/>
            <a:ext cx="54864" cy="4663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43891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Benchmark Metrics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Gust 1 (Gate, 7.5 m/s): </a:t>
            </a:r>
            <a:r>
              <a:t>PID Drift = 86.2 cm  →  DOB Drift = 12.2 cm
85.8% Drift Cut! Prevents pillar collision.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Gust 2 (Rooftop, 8.5 m/s): </a:t>
            </a:r>
            <a:r>
              <a:t>PID Drift = 157.1 cm  →  DOB Drift = 41.9 cm
73.3% Drift Cut! Prevents roof blowout.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Gust 3 (Helipad, 8.0 m/s): </a:t>
            </a:r>
            <a:r>
              <a:t>PID Drift = 84.7 cm  →  DOB Drift = 29.9 cm
64.7% Drift Cut! Ensures 1.2m pad landing.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Overall Mean Tracking Error: </a:t>
            </a:r>
            <a:r>
              <a:t>Cut by 38.7% (20.2 cm vs. 32.9 cm across all 11 waypoints) with 0 collisions.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5584" y="1450237"/>
            <a:ext cx="5650992" cy="46890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ulti_gust_dob_vs_p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6813"/>
            <a:ext cx="5577840" cy="46158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INDUSTRIAL PILOT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Ground Control Station (GCS) &amp; Human Teleoperation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347472"/>
            <a:ext cx="777240" cy="38404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06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UAV Disturbance Observer Flight Control  |  ROS 2 Humble &amp; Gazebo 11  |  github.com/Sarat-2007/ros2-quadrotor-dob-wind-rejection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6766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39"/>
            <a:ext cx="54864" cy="4663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6309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Operator Capabilities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Aerospace Dark Slate HUD: </a:t>
            </a:r>
            <a:r>
              <a:t>Real-time telemetry readouts for 3D position [X,Y,Z], speed, heading, and estimated disturbance drag force.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Real-Time Aerodynamic Calculator: </a:t>
            </a:r>
            <a:r>
              <a:t>Dynamically calculates expected fluid drag Fd = ½ρCdAv², required vehicle tilt angle, and required thrust.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1-Click Autonomous Patrol Panel: </a:t>
            </a:r>
            <a:r>
              <a:t>Instantly deploys the 11-waypoint facility surveillance mission with active waypoint progression readouts.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Instant Station Hover &amp; Override: </a:t>
            </a:r>
            <a:r>
              <a:t>Clicking 'ABORT' or touching any flight stick instantly locks drone into rock-steady zero-drift hover.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18704" y="1289304"/>
            <a:ext cx="3364992" cy="5010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cs_teleo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325880"/>
            <a:ext cx="32918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ACADEMIC EVALUATION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Project Summary &amp; Faculty Evaluation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347472"/>
            <a:ext cx="777240" cy="38404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07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UAV Disturbance Observer Flight Control  |  ROS 2 Humble &amp; Gazebo 11  |  github.com/Sarat-2007/ros2-quadrotor-dob-wind-rejection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39"/>
            <a:ext cx="54864" cy="4663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Why This Project Stands Out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Not a Basic Waypoint Follower: </a:t>
            </a:r>
            <a:r>
              <a:t>Standard drone projects follow waypoints in calm air. This project pioneers Active Disturbance Rejection Control (ADRC) for violent, unmodeled wind conditions.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Theoretical Rigor: </a:t>
            </a:r>
            <a:r>
              <a:t>Complete 6-DOF Newton-Euler dynamics, Rayleigh aerodynamic drag, and mathematically proven Lyapunov asymptotic stability.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Empirical Validation: </a:t>
            </a:r>
            <a:r>
              <a:t>Benchmarked in Gazebo 11 physics across 3 shock crosswinds, cutting peak drift by up to 85.8% with zero collisions.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39"/>
            <a:ext cx="54864" cy="4663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Engineering Deliverables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Modular ROS 2 Architecture: </a:t>
            </a:r>
            <a:r>
              <a:t>Clean decoupling across uav_control (100 Hz), uav_aerodynamics, uav_dashboard, and Gazebo physics bridge.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Reproducible 1-Click Suite: </a:t>
            </a:r>
            <a:r>
              <a:t>Automated batch/shell scripts allow instant live verification of patrol and gust benchmarks.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Hardware-Ready Formulation: </a:t>
            </a:r>
            <a:r>
              <a:t>Differential flatness and acceleration decoupling structure maps directly to PX4 / Pixhawk autopilot hardware.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